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85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8928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64319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insights from 3,900 purchases to guide strategic business decisions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5491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509123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3,900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428274" y="34947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3980855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records analyzed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19819" y="2509123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18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889784" y="34947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9819" y="3980855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points per transaction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81329" y="2509123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37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351294" y="34947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81329" y="3980855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ratings imputed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47878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Data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8309" y="5360670"/>
            <a:ext cx="4018359" cy="153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Demographics (Age, Gender, Location)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 Status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Previous Purchases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12926" y="47878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Purchase Details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12926" y="5360670"/>
            <a:ext cx="4018359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Item, Category, Amount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Season, Size, Color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 &amp; Promo Codes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867543" y="47878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Behavior Metrics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67543" y="5360670"/>
            <a:ext cx="4018359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Frequency of Purchases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Ratings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Shipping Type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72277"/>
            <a:ext cx="642651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218253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555796"/>
            <a:ext cx="64485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27249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3211116"/>
            <a:ext cx="64485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Imported dataset using pandas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423428" y="2218253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428" y="2555796"/>
            <a:ext cx="64486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3428" y="27249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3428" y="3211116"/>
            <a:ext cx="6448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Checked structure with info() and describe()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58309" y="3936802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4252674"/>
            <a:ext cx="64485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309" y="44435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Missing Data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58309" y="4929664"/>
            <a:ext cx="64485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Imputed 37 missing review ratings by category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423428" y="3936802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428" y="4252674"/>
            <a:ext cx="64486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3428" y="44435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Standardization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3428" y="4929664"/>
            <a:ext cx="6448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Renamed columns to snake case format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58309" y="5655350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05</a:t>
            </a:r>
            <a:endParaRPr lang="en-US" sz="1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5949672"/>
            <a:ext cx="64485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58309" y="616208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58309" y="6648212"/>
            <a:ext cx="64485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age groups and purchase frequency days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423428" y="5655350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06</a:t>
            </a:r>
            <a:endParaRPr lang="en-US" sz="1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428" y="5949672"/>
            <a:ext cx="6448663" cy="30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23428" y="616208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Load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423428" y="6648212"/>
            <a:ext cx="6448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to PostgreSQL for SQL analysis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3501" y="530543"/>
            <a:ext cx="4327208" cy="540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Gender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501" y="1320879"/>
            <a:ext cx="9833372" cy="6006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3501" y="7467600"/>
            <a:ext cx="11943278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customers generated </a:t>
            </a:r>
            <a:r>
              <a:rPr lang="en-US" sz="12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2.1x more revenue</a:t>
            </a: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female customers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87091"/>
            <a:ext cx="581310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Products by Rating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957989"/>
            <a:ext cx="4226838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927509"/>
            <a:ext cx="422683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687" y="2633067"/>
            <a:ext cx="649962" cy="6499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1712" y="2795588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05364" y="34996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05364" y="3985736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3.86 average rating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201722" y="2957989"/>
            <a:ext cx="4226838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722" y="2927509"/>
            <a:ext cx="4226838" cy="1219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100" y="2633067"/>
            <a:ext cx="649962" cy="6499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85124" y="2795588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5448776" y="34996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448776" y="3985736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3.84 average rating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9645134" y="2957989"/>
            <a:ext cx="4226957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134" y="2927509"/>
            <a:ext cx="4226957" cy="12192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3631" y="2633067"/>
            <a:ext cx="649962" cy="64996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28656" y="2795588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1"/>
          <p:cNvSpPr/>
          <p:nvPr/>
        </p:nvSpPr>
        <p:spPr>
          <a:xfrm>
            <a:off x="9892189" y="349960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892189" y="3985736"/>
            <a:ext cx="37328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3.82 average rating</a:t>
            </a:r>
            <a:endParaRPr lang="en-US" sz="1700" dirty="0"/>
          </a:p>
        </p:txBody>
      </p:sp>
      <p:sp>
        <p:nvSpPr>
          <p:cNvPr id="21" name="Shape 13"/>
          <p:cNvSpPr/>
          <p:nvPr/>
        </p:nvSpPr>
        <p:spPr>
          <a:xfrm>
            <a:off x="758309" y="5120997"/>
            <a:ext cx="6448544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5090517"/>
            <a:ext cx="6448544" cy="12192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4796076"/>
            <a:ext cx="649962" cy="64996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52565" y="4958596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15"/>
          <p:cNvSpPr/>
          <p:nvPr/>
        </p:nvSpPr>
        <p:spPr>
          <a:xfrm>
            <a:off x="1005364" y="56626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Hat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1005364" y="6148745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3.80 average rating</a:t>
            </a:r>
            <a:endParaRPr lang="en-US" sz="1700" dirty="0"/>
          </a:p>
        </p:txBody>
      </p:sp>
      <p:sp>
        <p:nvSpPr>
          <p:cNvPr id="27" name="Shape 17"/>
          <p:cNvSpPr/>
          <p:nvPr/>
        </p:nvSpPr>
        <p:spPr>
          <a:xfrm>
            <a:off x="7423428" y="5120997"/>
            <a:ext cx="6448663" cy="162151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428" y="5090517"/>
            <a:ext cx="6448663" cy="12192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2778" y="4796076"/>
            <a:ext cx="649962" cy="64996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517803" y="4958596"/>
            <a:ext cx="259913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19"/>
          <p:cNvSpPr/>
          <p:nvPr/>
        </p:nvSpPr>
        <p:spPr>
          <a:xfrm>
            <a:off x="7670483" y="56626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32" name="Text 20"/>
          <p:cNvSpPr/>
          <p:nvPr/>
        </p:nvSpPr>
        <p:spPr>
          <a:xfrm>
            <a:off x="7670483" y="6148745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3.78 average rating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0973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Shipping &amp; Subscription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676650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Shipping Type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58309" y="4320778"/>
            <a:ext cx="3549372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$58.46 avg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Express: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$60.48 avg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309" y="5284827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Express shipping customers spend </a:t>
            </a:r>
            <a:r>
              <a:rPr lang="en-US" sz="170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 more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 purchase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843939" y="3676650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Subscription Status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843939" y="4320778"/>
            <a:ext cx="3549372" cy="1115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1,053 customers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Non-Subscribers: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2,847 customers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843939" y="5631537"/>
            <a:ext cx="35493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Non-subscribers generate </a:t>
            </a:r>
            <a:r>
              <a:rPr lang="en-US" sz="170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2.7x more revenue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47455"/>
            <a:ext cx="766691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Discount-Dependent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801660"/>
            <a:ext cx="3504724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801660"/>
            <a:ext cx="1752362" cy="270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25434" y="2801660"/>
            <a:ext cx="523637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50%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8309" y="33430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309" y="3829169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Half purchased with discount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19819" y="2801660"/>
            <a:ext cx="3133487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819" y="2801660"/>
            <a:ext cx="1556028" cy="2707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15707" y="2801660"/>
            <a:ext cx="894874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49.66%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219819" y="33430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Sneakers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19819" y="3829169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discount dependency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81329" y="2801660"/>
            <a:ext cx="3142655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329" y="2801660"/>
            <a:ext cx="1542098" cy="2707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6385" y="2801660"/>
            <a:ext cx="885706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49.07%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9681329" y="33430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Coat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681329" y="3829169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discount pattern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58309" y="4717375"/>
            <a:ext cx="3191470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717375"/>
            <a:ext cx="1537216" cy="2707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12181" y="4717375"/>
            <a:ext cx="836890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48.17%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758309" y="52587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Sweater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58309" y="5744885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Regular discount usage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5219819" y="4717375"/>
            <a:ext cx="3190637" cy="270748"/>
          </a:xfrm>
          <a:prstGeom prst="roundRect">
            <a:avLst>
              <a:gd name="adj" fmla="val 12003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9819" y="4717375"/>
            <a:ext cx="1511379" cy="2707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72857" y="4717375"/>
            <a:ext cx="837724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47.37%</a:t>
            </a:r>
            <a:endParaRPr lang="en-US" sz="2100" dirty="0"/>
          </a:p>
        </p:txBody>
      </p:sp>
      <p:sp>
        <p:nvSpPr>
          <p:cNvPr id="26" name="Text 19"/>
          <p:cNvSpPr/>
          <p:nvPr/>
        </p:nvSpPr>
        <p:spPr>
          <a:xfrm>
            <a:off x="5219819" y="52587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Pants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5219819" y="5744885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Discount-driven purchases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758309" y="633531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5 products with highest percentage of discounted purchases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434584"/>
            <a:ext cx="615850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472214"/>
            <a:ext cx="3705344" cy="1757839"/>
          </a:xfrm>
          <a:prstGeom prst="roundRect">
            <a:avLst>
              <a:gd name="adj" fmla="val 1848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69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8904" y="3182541"/>
            <a:ext cx="32569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3,116 customers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68904" y="3659148"/>
            <a:ext cx="32569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repeat purchase rate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166628" y="2472214"/>
            <a:ext cx="3705463" cy="1757839"/>
          </a:xfrm>
          <a:prstGeom prst="roundRect">
            <a:avLst>
              <a:gd name="adj" fmla="val 1848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90823" y="26964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90823" y="3182541"/>
            <a:ext cx="32570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701 customers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390823" y="3659148"/>
            <a:ext cx="32570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purchases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4709" y="4446627"/>
            <a:ext cx="7627382" cy="1757839"/>
          </a:xfrm>
          <a:prstGeom prst="roundRect">
            <a:avLst>
              <a:gd name="adj" fmla="val 1848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8904" y="46708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New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68904" y="5156954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 customers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68904" y="563356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purchase only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244709" y="644818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 of customers are either loyal or returning buyers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2658" y="533876"/>
            <a:ext cx="4385786" cy="548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by Age Group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658" y="1338501"/>
            <a:ext cx="10085308" cy="5977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2658" y="7459861"/>
            <a:ext cx="12104965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 adults drive the highest revenue, followed by middle-aged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6"/>
          <p:cNvSpPr/>
          <p:nvPr/>
        </p:nvSpPr>
        <p:spPr>
          <a:xfrm>
            <a:off x="10493693" y="3604379"/>
            <a:ext cx="337839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306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</vt:lpstr>
      <vt:lpstr>Calibri</vt:lpstr>
      <vt:lpstr>Arial</vt:lpstr>
      <vt:lpstr>Barlow Light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Saurabh Chandale</cp:lastModifiedBy>
  <cp:revision>2</cp:revision>
  <dcterms:created xsi:type="dcterms:W3CDTF">2026-03-23T05:00:43Z</dcterms:created>
  <dcterms:modified xsi:type="dcterms:W3CDTF">2026-03-26T04:00:46Z</dcterms:modified>
</cp:coreProperties>
</file>